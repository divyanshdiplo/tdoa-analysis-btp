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73" d="100"/>
          <a:sy n="73" d="100"/>
        </p:scale>
        <p:origin x="881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23-09-2025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2966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23-09-2025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7570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23-09-2025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161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23-09-2025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4224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23-09-2025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0764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23-09-2025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9240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23-09-2025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5474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122DABFC-221E-4F7C-8511-A9761CDF0E9D}" type="datetimeFigureOut">
              <a:rPr lang="en-IN" smtClean="0"/>
              <a:t>23-09-2025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77971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23-09-2025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7818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23-09-2025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83777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23-09-2025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3843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22DABFC-221E-4F7C-8511-A9761CDF0E9D}" type="datetimeFigureOut">
              <a:rPr lang="en-IN" smtClean="0"/>
              <a:t>23-09-2025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190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94FB2-575C-47C5-9BF5-AE0E3E52AD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6800" y="1682825"/>
            <a:ext cx="10058400" cy="1608346"/>
          </a:xfrm>
        </p:spPr>
        <p:txBody>
          <a:bodyPr>
            <a:normAutofit fontScale="90000"/>
          </a:bodyPr>
          <a:lstStyle/>
          <a:p>
            <a:r>
              <a:rPr lang="en-IN" sz="6000" dirty="0"/>
              <a:t>Localization of Transmitter using TDOA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AC3550-3E4B-D498-C8A7-85E6E01DF1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557732"/>
          </a:xfrm>
        </p:spPr>
        <p:txBody>
          <a:bodyPr/>
          <a:lstStyle/>
          <a:p>
            <a:r>
              <a:rPr lang="en-IN" dirty="0"/>
              <a:t>Supervisor – Prof. Seshan </a:t>
            </a:r>
            <a:r>
              <a:rPr lang="en-IN" dirty="0" err="1"/>
              <a:t>Srirangarajan</a:t>
            </a: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3D0093-2F4C-62A8-23B3-62D70023ED64}"/>
              </a:ext>
            </a:extLst>
          </p:cNvPr>
          <p:cNvSpPr txBox="1"/>
          <p:nvPr/>
        </p:nvSpPr>
        <p:spPr>
          <a:xfrm>
            <a:off x="3587959" y="4470637"/>
            <a:ext cx="501608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By -</a:t>
            </a:r>
          </a:p>
          <a:p>
            <a:pPr algn="ctr"/>
            <a:r>
              <a:rPr lang="en-IN" dirty="0"/>
              <a:t>Divyansh Kumar</a:t>
            </a:r>
          </a:p>
          <a:p>
            <a:pPr algn="ctr"/>
            <a:r>
              <a:rPr lang="en-IN" dirty="0"/>
              <a:t>Gopal Saha</a:t>
            </a:r>
          </a:p>
        </p:txBody>
      </p:sp>
    </p:spTree>
    <p:extLst>
      <p:ext uri="{BB962C8B-B14F-4D97-AF65-F5344CB8AC3E}">
        <p14:creationId xmlns:p14="http://schemas.microsoft.com/office/powerpoint/2010/main" val="1213319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8E72BA-F1D5-F90C-A43F-61E4111BE38E}"/>
              </a:ext>
            </a:extLst>
          </p:cNvPr>
          <p:cNvSpPr txBox="1"/>
          <p:nvPr/>
        </p:nvSpPr>
        <p:spPr>
          <a:xfrm>
            <a:off x="530277" y="1583768"/>
            <a:ext cx="10187689" cy="337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IN" b="1" u="sng" dirty="0"/>
              <a:t>Defence</a:t>
            </a:r>
            <a:r>
              <a:rPr lang="en-IN" dirty="0"/>
              <a:t> – Tracking Enemy Radars and Drones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en-IN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IN" b="1" u="sng" dirty="0"/>
              <a:t>UAV Tracking </a:t>
            </a:r>
            <a:r>
              <a:rPr lang="en-IN" dirty="0"/>
              <a:t>- </a:t>
            </a:r>
            <a:r>
              <a:rPr lang="en-US" dirty="0"/>
              <a:t>Detects unauthorized or enemy UAVs by pinpointing their source location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en-IN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IN" b="1" u="sng" dirty="0"/>
              <a:t>Mobile Terminal Positioning </a:t>
            </a:r>
            <a:r>
              <a:rPr lang="en-IN" dirty="0"/>
              <a:t>- </a:t>
            </a:r>
            <a:r>
              <a:rPr lang="en-US" dirty="0"/>
              <a:t>Provides accurate position for mobile users even in environments where traditional GPS is unreliable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en-IN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IN" b="1" u="sng" dirty="0"/>
              <a:t>Medical Tracking </a:t>
            </a:r>
            <a:r>
              <a:rPr lang="en-IN" dirty="0"/>
              <a:t>- Localizing transmitter-equipped medical devices to track patients and belongings 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0912581-3E77-50C9-D8A5-4A3A40B508A2}"/>
              </a:ext>
            </a:extLst>
          </p:cNvPr>
          <p:cNvSpPr txBox="1">
            <a:spLocks/>
          </p:cNvSpPr>
          <p:nvPr/>
        </p:nvSpPr>
        <p:spPr>
          <a:xfrm>
            <a:off x="530277" y="637488"/>
            <a:ext cx="6195935" cy="94628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4000" dirty="0"/>
              <a:t>Why Localize Transmitter ?</a:t>
            </a:r>
          </a:p>
        </p:txBody>
      </p:sp>
    </p:spTree>
    <p:extLst>
      <p:ext uri="{BB962C8B-B14F-4D97-AF65-F5344CB8AC3E}">
        <p14:creationId xmlns:p14="http://schemas.microsoft.com/office/powerpoint/2010/main" val="2112351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5068541-A06D-9B4D-F0EF-E11B32DEA6A2}"/>
              </a:ext>
            </a:extLst>
          </p:cNvPr>
          <p:cNvSpPr txBox="1">
            <a:spLocks/>
          </p:cNvSpPr>
          <p:nvPr/>
        </p:nvSpPr>
        <p:spPr>
          <a:xfrm>
            <a:off x="260456" y="142327"/>
            <a:ext cx="6195935" cy="94628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4000" dirty="0"/>
              <a:t>What is TDOA ?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FB0C16-7386-D09F-269D-DEA1E551B435}"/>
              </a:ext>
            </a:extLst>
          </p:cNvPr>
          <p:cNvSpPr txBox="1"/>
          <p:nvPr/>
        </p:nvSpPr>
        <p:spPr>
          <a:xfrm>
            <a:off x="260456" y="688497"/>
            <a:ext cx="108303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/>
              <a:t>TDOA stands for </a:t>
            </a:r>
            <a:r>
              <a:rPr lang="en-IN" sz="2000" b="1" dirty="0"/>
              <a:t>Time difference of Arrival. </a:t>
            </a:r>
            <a:r>
              <a:rPr lang="en-IN" sz="2000" dirty="0"/>
              <a:t>Its one of the methods to pinpoint transmitter location</a:t>
            </a:r>
            <a:r>
              <a:rPr lang="en-IN" sz="2000" b="1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A85487-B232-C299-CE1B-DB264914798F}"/>
              </a:ext>
            </a:extLst>
          </p:cNvPr>
          <p:cNvSpPr txBox="1"/>
          <p:nvPr/>
        </p:nvSpPr>
        <p:spPr>
          <a:xfrm>
            <a:off x="260456" y="1089038"/>
            <a:ext cx="10830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u="sng" dirty="0"/>
              <a:t>Hyperbolic </a:t>
            </a:r>
            <a:r>
              <a:rPr lang="en-IN" b="1" u="sng" dirty="0" err="1"/>
              <a:t>Multilateration</a:t>
            </a:r>
            <a:r>
              <a:rPr lang="en-IN" b="1" u="sng" dirty="0"/>
              <a:t> </a:t>
            </a:r>
            <a:r>
              <a:rPr lang="en-IN" dirty="0"/>
              <a:t>: Each pair of Receiver defines a Hyperbola in 2D (hyperboloid in 3D)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6593EC7-9C27-3F78-2298-C6B95097EEEA}"/>
                  </a:ext>
                </a:extLst>
              </p:cNvPr>
              <p:cNvSpPr txBox="1"/>
              <p:nvPr/>
            </p:nvSpPr>
            <p:spPr>
              <a:xfrm>
                <a:off x="260456" y="1458370"/>
                <a:ext cx="11581774" cy="1086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i="1" u="sng" dirty="0"/>
                  <a:t>For example</a:t>
                </a:r>
                <a:br>
                  <a:rPr lang="en-IN" i="1" u="sng" dirty="0"/>
                </a:br>
                <a:r>
                  <a:rPr lang="en-IN" dirty="0"/>
                  <a:t>Lets Take 3 Receivers forming a triangle and 1 transmitter in 2D plane. Coordinates of R1,R2,R3 are (0,0) , (a,0),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IN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lang="en-IN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I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IN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IN" dirty="0"/>
              </a:p>
              <a:p>
                <a:endParaRPr lang="en-IN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6593EC7-9C27-3F78-2298-C6B95097E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56" y="1458370"/>
                <a:ext cx="11581774" cy="1086901"/>
              </a:xfrm>
              <a:prstGeom prst="rect">
                <a:avLst/>
              </a:prstGeom>
              <a:blipFill>
                <a:blip r:embed="rId2"/>
                <a:stretch>
                  <a:fillRect l="-474" t="-279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graph with a triangle&#10;&#10;AI-generated content may be incorrect.">
            <a:extLst>
              <a:ext uri="{FF2B5EF4-FFF2-40B4-BE49-F238E27FC236}">
                <a16:creationId xmlns:a16="http://schemas.microsoft.com/office/drawing/2014/main" id="{B6DE8B73-C49C-6BE8-F153-F6E88200BB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779" r="20451"/>
          <a:stretch>
            <a:fillRect/>
          </a:stretch>
        </p:blipFill>
        <p:spPr>
          <a:xfrm>
            <a:off x="701416" y="2281823"/>
            <a:ext cx="4964866" cy="406224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5E5244B-8371-FC29-F990-DB430778CEE8}"/>
                  </a:ext>
                </a:extLst>
              </p:cNvPr>
              <p:cNvSpPr txBox="1"/>
              <p:nvPr/>
            </p:nvSpPr>
            <p:spPr>
              <a:xfrm>
                <a:off x="5908936" y="2545271"/>
                <a:ext cx="6165640" cy="37192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IN" b="0" dirty="0"/>
              </a:p>
              <a:p>
                <a:endParaRPr lang="en-IN" sz="1600" dirty="0"/>
              </a:p>
              <a:p>
                <a:r>
                  <a:rPr lang="en-IN" sz="1600" dirty="0"/>
                  <a:t>Hyperbolas (between receiver pairs):</a:t>
                </a:r>
                <a:endParaRPr lang="en-IN" sz="1600" dirty="0">
                  <a:effectLst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ar-AE" sz="1600"/>
                          </m:ctrlPr>
                        </m:radPr>
                        <m:deg/>
                        <m:e>
                          <m:d>
                            <m:dPr>
                              <m:endChr m:val=""/>
                              <m:ctrlPr>
                                <a:rPr lang="ar-AE" sz="1600"/>
                              </m:ctrlPr>
                            </m:dPr>
                            <m:e>
                              <m:r>
                                <a:rPr lang="ar-AE" sz="1600" i="1"/>
                                <m:t>𝑥</m:t>
                              </m:r>
                              <m:r>
                                <a:rPr lang="ar-AE" sz="1600"/>
                                <m:t>−</m:t>
                              </m:r>
                              <m:sSub>
                                <m:sSubPr>
                                  <m:ctrlPr>
                                    <a:rPr lang="ar-AE" sz="1600" i="1"/>
                                  </m:ctrlPr>
                                </m:sSubPr>
                                <m:e>
                                  <m:r>
                                    <a:rPr lang="ar-AE" sz="1600" i="1"/>
                                    <m:t>𝑥</m:t>
                                  </m:r>
                                </m:e>
                                <m:sub>
                                  <m:r>
                                    <a:rPr lang="ar-AE" sz="1600"/>
                                    <m:t>1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ar-AE" sz="1600" i="1"/>
                                  </m:ctrlPr>
                                </m:sSupPr>
                                <m:e>
                                  <m:d>
                                    <m:dPr>
                                      <m:begChr m:val=""/>
                                      <m:endChr m:val=""/>
                                      <m:ctrlPr>
                                        <a:rPr lang="ar-AE" sz="1600" i="1"/>
                                      </m:ctrlPr>
                                    </m:dPr>
                                    <m:e>
                                      <m:r>
                                        <a:rPr lang="ar-AE" sz="1600"/>
                                        <m:t>)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ar-AE" sz="1600"/>
                                    <m:t>2</m:t>
                                  </m:r>
                                </m:sup>
                              </m:sSup>
                              <m:r>
                                <a:rPr lang="ar-AE" sz="1600"/>
                                <m:t>+</m:t>
                              </m:r>
                              <m:d>
                                <m:dPr>
                                  <m:endChr m:val=""/>
                                  <m:ctrlPr>
                                    <a:rPr lang="ar-AE" sz="1600" i="1"/>
                                  </m:ctrlPr>
                                </m:dPr>
                                <m:e>
                                  <m:r>
                                    <a:rPr lang="ar-AE" sz="1600" i="1"/>
                                    <m:t>𝑦</m:t>
                                  </m:r>
                                  <m:r>
                                    <a:rPr lang="ar-AE" sz="1600"/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ar-AE" sz="1600" i="1"/>
                                      </m:ctrlPr>
                                    </m:sSubPr>
                                    <m:e>
                                      <m:r>
                                        <a:rPr lang="ar-AE" sz="1600" i="1"/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ar-AE" sz="1600"/>
                                        <m:t>1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ar-AE" sz="1600" i="1"/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"/>
                                          <m:endChr m:val=""/>
                                          <m:ctrlPr>
                                            <a:rPr lang="ar-AE" sz="1600" i="1"/>
                                          </m:ctrlPr>
                                        </m:dPr>
                                        <m:e>
                                          <m:r>
                                            <a:rPr lang="ar-AE" sz="1600"/>
                                            <m:t>)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ar-AE" sz="1600"/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rad>
                      <m:r>
                        <a:rPr lang="ar-AE" sz="1600"/>
                        <m:t>−</m:t>
                      </m:r>
                      <m:rad>
                        <m:radPr>
                          <m:degHide m:val="on"/>
                          <m:ctrlPr>
                            <a:rPr lang="ar-AE" sz="1600" i="1"/>
                          </m:ctrlPr>
                        </m:radPr>
                        <m:deg/>
                        <m:e>
                          <m:d>
                            <m:dPr>
                              <m:endChr m:val=""/>
                              <m:ctrlPr>
                                <a:rPr lang="ar-AE" sz="1600" i="1"/>
                              </m:ctrlPr>
                            </m:dPr>
                            <m:e>
                              <m:r>
                                <a:rPr lang="ar-AE" sz="1600" i="1"/>
                                <m:t>𝑥</m:t>
                              </m:r>
                              <m:r>
                                <a:rPr lang="ar-AE" sz="1600"/>
                                <m:t>−</m:t>
                              </m:r>
                              <m:sSub>
                                <m:sSubPr>
                                  <m:ctrlPr>
                                    <a:rPr lang="ar-AE" sz="1600" i="1"/>
                                  </m:ctrlPr>
                                </m:sSubPr>
                                <m:e>
                                  <m:r>
                                    <a:rPr lang="ar-AE" sz="1600" i="1"/>
                                    <m:t>𝑥</m:t>
                                  </m:r>
                                </m:e>
                                <m:sub>
                                  <m:r>
                                    <a:rPr lang="ar-AE" sz="1600"/>
                                    <m:t>2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ar-AE" sz="1600" i="1"/>
                                  </m:ctrlPr>
                                </m:sSupPr>
                                <m:e>
                                  <m:d>
                                    <m:dPr>
                                      <m:begChr m:val=""/>
                                      <m:endChr m:val=""/>
                                      <m:ctrlPr>
                                        <a:rPr lang="ar-AE" sz="1600" i="1"/>
                                      </m:ctrlPr>
                                    </m:dPr>
                                    <m:e>
                                      <m:r>
                                        <a:rPr lang="ar-AE" sz="1600"/>
                                        <m:t>)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ar-AE" sz="1600"/>
                                    <m:t>2</m:t>
                                  </m:r>
                                </m:sup>
                              </m:sSup>
                              <m:r>
                                <a:rPr lang="ar-AE" sz="1600"/>
                                <m:t>+</m:t>
                              </m:r>
                              <m:d>
                                <m:dPr>
                                  <m:endChr m:val=""/>
                                  <m:ctrlPr>
                                    <a:rPr lang="ar-AE" sz="1600" i="1"/>
                                  </m:ctrlPr>
                                </m:dPr>
                                <m:e>
                                  <m:r>
                                    <a:rPr lang="ar-AE" sz="1600" i="1"/>
                                    <m:t>𝑦</m:t>
                                  </m:r>
                                  <m:r>
                                    <a:rPr lang="ar-AE" sz="1600"/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ar-AE" sz="1600" i="1"/>
                                      </m:ctrlPr>
                                    </m:sSubPr>
                                    <m:e>
                                      <m:r>
                                        <a:rPr lang="ar-AE" sz="1600" i="1"/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ar-AE" sz="1600"/>
                                        <m:t>2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ar-AE" sz="1600" i="1"/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"/>
                                          <m:endChr m:val=""/>
                                          <m:ctrlPr>
                                            <a:rPr lang="ar-AE" sz="1600" i="1"/>
                                          </m:ctrlPr>
                                        </m:dPr>
                                        <m:e>
                                          <m:r>
                                            <a:rPr lang="ar-AE" sz="1600"/>
                                            <m:t>)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ar-AE" sz="1600"/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rad>
                      <m:r>
                        <a:rPr lang="ar-AE" sz="1600"/>
                        <m:t>=</m:t>
                      </m:r>
                      <m:sSub>
                        <m:sSubPr>
                          <m:ctrlPr>
                            <a:rPr lang="ar-AE" sz="1600" i="1"/>
                          </m:ctrlPr>
                        </m:sSubPr>
                        <m:e>
                          <m:r>
                            <a:rPr lang="ar-AE" sz="1600" i="1"/>
                            <m:t>𝑑</m:t>
                          </m:r>
                        </m:e>
                        <m:sub>
                          <m:r>
                            <a:rPr lang="ar-AE" sz="1600"/>
                            <m:t>12</m:t>
                          </m:r>
                        </m:sub>
                      </m:sSub>
                    </m:oMath>
                  </m:oMathPara>
                </a14:m>
                <a:endParaRPr lang="ar-AE" sz="160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ar-AE" sz="1600"/>
                          </m:ctrlPr>
                        </m:radPr>
                        <m:deg/>
                        <m:e>
                          <m:d>
                            <m:dPr>
                              <m:endChr m:val=""/>
                              <m:ctrlPr>
                                <a:rPr lang="ar-AE" sz="1600"/>
                              </m:ctrlPr>
                            </m:dPr>
                            <m:e>
                              <m:r>
                                <a:rPr lang="ar-AE" sz="1600" i="1"/>
                                <m:t>𝑥</m:t>
                              </m:r>
                              <m:r>
                                <a:rPr lang="ar-AE" sz="1600"/>
                                <m:t>−</m:t>
                              </m:r>
                              <m:sSub>
                                <m:sSubPr>
                                  <m:ctrlPr>
                                    <a:rPr lang="ar-AE" sz="1600" i="1"/>
                                  </m:ctrlPr>
                                </m:sSubPr>
                                <m:e>
                                  <m:r>
                                    <a:rPr lang="ar-AE" sz="1600" i="1"/>
                                    <m:t>𝑥</m:t>
                                  </m:r>
                                </m:e>
                                <m:sub>
                                  <m:r>
                                    <a:rPr lang="ar-AE" sz="1600"/>
                                    <m:t>2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ar-AE" sz="1600" i="1"/>
                                  </m:ctrlPr>
                                </m:sSupPr>
                                <m:e>
                                  <m:d>
                                    <m:dPr>
                                      <m:begChr m:val=""/>
                                      <m:endChr m:val=""/>
                                      <m:ctrlPr>
                                        <a:rPr lang="ar-AE" sz="1600" i="1"/>
                                      </m:ctrlPr>
                                    </m:dPr>
                                    <m:e>
                                      <m:r>
                                        <a:rPr lang="ar-AE" sz="1600"/>
                                        <m:t>)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ar-AE" sz="1600"/>
                                    <m:t>2</m:t>
                                  </m:r>
                                </m:sup>
                              </m:sSup>
                              <m:r>
                                <a:rPr lang="ar-AE" sz="1600"/>
                                <m:t>+</m:t>
                              </m:r>
                              <m:d>
                                <m:dPr>
                                  <m:endChr m:val=""/>
                                  <m:ctrlPr>
                                    <a:rPr lang="ar-AE" sz="1600" i="1"/>
                                  </m:ctrlPr>
                                </m:dPr>
                                <m:e>
                                  <m:r>
                                    <a:rPr lang="ar-AE" sz="1600" i="1"/>
                                    <m:t>𝑦</m:t>
                                  </m:r>
                                  <m:r>
                                    <a:rPr lang="ar-AE" sz="1600"/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ar-AE" sz="1600" i="1"/>
                                      </m:ctrlPr>
                                    </m:sSubPr>
                                    <m:e>
                                      <m:r>
                                        <a:rPr lang="ar-AE" sz="1600" i="1"/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ar-AE" sz="1600"/>
                                        <m:t>2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ar-AE" sz="1600" i="1"/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"/>
                                          <m:endChr m:val=""/>
                                          <m:ctrlPr>
                                            <a:rPr lang="ar-AE" sz="1600" i="1"/>
                                          </m:ctrlPr>
                                        </m:dPr>
                                        <m:e>
                                          <m:r>
                                            <a:rPr lang="ar-AE" sz="1600"/>
                                            <m:t>)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ar-AE" sz="1600"/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rad>
                      <m:r>
                        <a:rPr lang="ar-AE" sz="1600"/>
                        <m:t>−</m:t>
                      </m:r>
                      <m:rad>
                        <m:radPr>
                          <m:degHide m:val="on"/>
                          <m:ctrlPr>
                            <a:rPr lang="ar-AE" sz="1600" i="1"/>
                          </m:ctrlPr>
                        </m:radPr>
                        <m:deg/>
                        <m:e>
                          <m:d>
                            <m:dPr>
                              <m:endChr m:val=""/>
                              <m:ctrlPr>
                                <a:rPr lang="ar-AE" sz="1600" i="1"/>
                              </m:ctrlPr>
                            </m:dPr>
                            <m:e>
                              <m:r>
                                <a:rPr lang="ar-AE" sz="1600" i="1"/>
                                <m:t>𝑥</m:t>
                              </m:r>
                              <m:r>
                                <a:rPr lang="ar-AE" sz="1600"/>
                                <m:t>−</m:t>
                              </m:r>
                              <m:sSub>
                                <m:sSubPr>
                                  <m:ctrlPr>
                                    <a:rPr lang="ar-AE" sz="1600" i="1"/>
                                  </m:ctrlPr>
                                </m:sSubPr>
                                <m:e>
                                  <m:r>
                                    <a:rPr lang="ar-AE" sz="1600" i="1"/>
                                    <m:t>𝑥</m:t>
                                  </m:r>
                                </m:e>
                                <m:sub>
                                  <m:r>
                                    <a:rPr lang="ar-AE" sz="1600"/>
                                    <m:t>3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ar-AE" sz="1600" i="1"/>
                                  </m:ctrlPr>
                                </m:sSupPr>
                                <m:e>
                                  <m:d>
                                    <m:dPr>
                                      <m:begChr m:val=""/>
                                      <m:endChr m:val=""/>
                                      <m:ctrlPr>
                                        <a:rPr lang="ar-AE" sz="1600" i="1"/>
                                      </m:ctrlPr>
                                    </m:dPr>
                                    <m:e>
                                      <m:r>
                                        <a:rPr lang="ar-AE" sz="1600"/>
                                        <m:t>)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ar-AE" sz="1600"/>
                                    <m:t>2</m:t>
                                  </m:r>
                                </m:sup>
                              </m:sSup>
                              <m:r>
                                <a:rPr lang="ar-AE" sz="1600"/>
                                <m:t>+</m:t>
                              </m:r>
                              <m:d>
                                <m:dPr>
                                  <m:endChr m:val=""/>
                                  <m:ctrlPr>
                                    <a:rPr lang="ar-AE" sz="1600" i="1"/>
                                  </m:ctrlPr>
                                </m:dPr>
                                <m:e>
                                  <m:r>
                                    <a:rPr lang="ar-AE" sz="1600" i="1"/>
                                    <m:t>𝑦</m:t>
                                  </m:r>
                                  <m:r>
                                    <a:rPr lang="ar-AE" sz="1600"/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ar-AE" sz="1600" i="1"/>
                                      </m:ctrlPr>
                                    </m:sSubPr>
                                    <m:e>
                                      <m:r>
                                        <a:rPr lang="ar-AE" sz="1600" i="1"/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ar-AE" sz="1600"/>
                                        <m:t>3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ar-AE" sz="1600" i="1"/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"/>
                                          <m:endChr m:val=""/>
                                          <m:ctrlPr>
                                            <a:rPr lang="ar-AE" sz="1600" i="1"/>
                                          </m:ctrlPr>
                                        </m:dPr>
                                        <m:e>
                                          <m:r>
                                            <a:rPr lang="ar-AE" sz="1600"/>
                                            <m:t>)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ar-AE" sz="1600"/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rad>
                      <m:r>
                        <a:rPr lang="ar-AE" sz="1600"/>
                        <m:t>=</m:t>
                      </m:r>
                      <m:sSub>
                        <m:sSubPr>
                          <m:ctrlPr>
                            <a:rPr lang="ar-AE" sz="1600" i="1"/>
                          </m:ctrlPr>
                        </m:sSubPr>
                        <m:e>
                          <m:r>
                            <a:rPr lang="ar-AE" sz="1600" i="1"/>
                            <m:t>𝑑</m:t>
                          </m:r>
                        </m:e>
                        <m:sub>
                          <m:r>
                            <a:rPr lang="ar-AE" sz="1600"/>
                            <m:t>23</m:t>
                          </m:r>
                        </m:sub>
                      </m:sSub>
                    </m:oMath>
                  </m:oMathPara>
                </a14:m>
                <a:endParaRPr lang="ar-AE" sz="160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ar-AE" sz="1600"/>
                          </m:ctrlPr>
                        </m:radPr>
                        <m:deg/>
                        <m:e>
                          <m:d>
                            <m:dPr>
                              <m:endChr m:val=""/>
                              <m:ctrlPr>
                                <a:rPr lang="ar-AE" sz="1600"/>
                              </m:ctrlPr>
                            </m:dPr>
                            <m:e>
                              <m:r>
                                <a:rPr lang="ar-AE" sz="1600" i="1"/>
                                <m:t>𝑥</m:t>
                              </m:r>
                              <m:r>
                                <a:rPr lang="ar-AE" sz="1600"/>
                                <m:t>−</m:t>
                              </m:r>
                              <m:sSub>
                                <m:sSubPr>
                                  <m:ctrlPr>
                                    <a:rPr lang="ar-AE" sz="1600" i="1"/>
                                  </m:ctrlPr>
                                </m:sSubPr>
                                <m:e>
                                  <m:r>
                                    <a:rPr lang="ar-AE" sz="1600" i="1"/>
                                    <m:t>𝑥</m:t>
                                  </m:r>
                                </m:e>
                                <m:sub>
                                  <m:r>
                                    <a:rPr lang="ar-AE" sz="1600"/>
                                    <m:t>1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ar-AE" sz="1600" i="1"/>
                                  </m:ctrlPr>
                                </m:sSupPr>
                                <m:e>
                                  <m:d>
                                    <m:dPr>
                                      <m:begChr m:val=""/>
                                      <m:endChr m:val=""/>
                                      <m:ctrlPr>
                                        <a:rPr lang="ar-AE" sz="1600" i="1"/>
                                      </m:ctrlPr>
                                    </m:dPr>
                                    <m:e>
                                      <m:r>
                                        <a:rPr lang="ar-AE" sz="1600"/>
                                        <m:t>)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ar-AE" sz="1600"/>
                                    <m:t>2</m:t>
                                  </m:r>
                                </m:sup>
                              </m:sSup>
                              <m:r>
                                <a:rPr lang="ar-AE" sz="1600"/>
                                <m:t>+</m:t>
                              </m:r>
                              <m:d>
                                <m:dPr>
                                  <m:endChr m:val=""/>
                                  <m:ctrlPr>
                                    <a:rPr lang="ar-AE" sz="1600" i="1"/>
                                  </m:ctrlPr>
                                </m:dPr>
                                <m:e>
                                  <m:r>
                                    <a:rPr lang="ar-AE" sz="1600" i="1"/>
                                    <m:t>𝑦</m:t>
                                  </m:r>
                                  <m:r>
                                    <a:rPr lang="ar-AE" sz="1600"/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ar-AE" sz="1600" i="1"/>
                                      </m:ctrlPr>
                                    </m:sSubPr>
                                    <m:e>
                                      <m:r>
                                        <a:rPr lang="ar-AE" sz="1600" i="1"/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ar-AE" sz="1600"/>
                                        <m:t>1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ar-AE" sz="1600" i="1"/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"/>
                                          <m:endChr m:val=""/>
                                          <m:ctrlPr>
                                            <a:rPr lang="ar-AE" sz="1600" i="1"/>
                                          </m:ctrlPr>
                                        </m:dPr>
                                        <m:e>
                                          <m:r>
                                            <a:rPr lang="ar-AE" sz="1600"/>
                                            <m:t>)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ar-AE" sz="1600"/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rad>
                      <m:r>
                        <a:rPr lang="ar-AE" sz="1600"/>
                        <m:t>−</m:t>
                      </m:r>
                      <m:rad>
                        <m:radPr>
                          <m:degHide m:val="on"/>
                          <m:ctrlPr>
                            <a:rPr lang="ar-AE" sz="1600" i="1"/>
                          </m:ctrlPr>
                        </m:radPr>
                        <m:deg/>
                        <m:e>
                          <m:d>
                            <m:dPr>
                              <m:endChr m:val=""/>
                              <m:ctrlPr>
                                <a:rPr lang="ar-AE" sz="1600" i="1"/>
                              </m:ctrlPr>
                            </m:dPr>
                            <m:e>
                              <m:r>
                                <a:rPr lang="ar-AE" sz="1600" i="1"/>
                                <m:t>𝑥</m:t>
                              </m:r>
                              <m:r>
                                <a:rPr lang="ar-AE" sz="1600"/>
                                <m:t>−</m:t>
                              </m:r>
                              <m:sSub>
                                <m:sSubPr>
                                  <m:ctrlPr>
                                    <a:rPr lang="ar-AE" sz="1600" i="1"/>
                                  </m:ctrlPr>
                                </m:sSubPr>
                                <m:e>
                                  <m:r>
                                    <a:rPr lang="ar-AE" sz="1600" i="1"/>
                                    <m:t>𝑥</m:t>
                                  </m:r>
                                </m:e>
                                <m:sub>
                                  <m:r>
                                    <a:rPr lang="ar-AE" sz="1600"/>
                                    <m:t>3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ar-AE" sz="1600" i="1"/>
                                  </m:ctrlPr>
                                </m:sSupPr>
                                <m:e>
                                  <m:d>
                                    <m:dPr>
                                      <m:begChr m:val=""/>
                                      <m:endChr m:val=""/>
                                      <m:ctrlPr>
                                        <a:rPr lang="ar-AE" sz="1600" i="1"/>
                                      </m:ctrlPr>
                                    </m:dPr>
                                    <m:e>
                                      <m:r>
                                        <a:rPr lang="ar-AE" sz="1600"/>
                                        <m:t>)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ar-AE" sz="1600"/>
                                    <m:t>2</m:t>
                                  </m:r>
                                </m:sup>
                              </m:sSup>
                              <m:r>
                                <a:rPr lang="ar-AE" sz="1600"/>
                                <m:t>+</m:t>
                              </m:r>
                              <m:d>
                                <m:dPr>
                                  <m:endChr m:val=""/>
                                  <m:ctrlPr>
                                    <a:rPr lang="ar-AE" sz="1600" i="1"/>
                                  </m:ctrlPr>
                                </m:dPr>
                                <m:e>
                                  <m:r>
                                    <a:rPr lang="ar-AE" sz="1600" i="1"/>
                                    <m:t>𝑦</m:t>
                                  </m:r>
                                  <m:r>
                                    <a:rPr lang="ar-AE" sz="1600"/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ar-AE" sz="1600" i="1"/>
                                      </m:ctrlPr>
                                    </m:sSubPr>
                                    <m:e>
                                      <m:r>
                                        <a:rPr lang="ar-AE" sz="1600" i="1"/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ar-AE" sz="1600"/>
                                        <m:t>3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ar-AE" sz="1600" i="1"/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"/>
                                          <m:endChr m:val=""/>
                                          <m:ctrlPr>
                                            <a:rPr lang="ar-AE" sz="1600" i="1"/>
                                          </m:ctrlPr>
                                        </m:dPr>
                                        <m:e>
                                          <m:r>
                                            <a:rPr lang="ar-AE" sz="1600"/>
                                            <m:t>)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ar-AE" sz="1600"/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rad>
                      <m:r>
                        <a:rPr lang="ar-AE" sz="1600"/>
                        <m:t>=</m:t>
                      </m:r>
                      <m:sSub>
                        <m:sSubPr>
                          <m:ctrlPr>
                            <a:rPr lang="ar-AE" sz="1600" i="1"/>
                          </m:ctrlPr>
                        </m:sSubPr>
                        <m:e>
                          <m:r>
                            <a:rPr lang="ar-AE" sz="1600" i="1"/>
                            <m:t>𝑑</m:t>
                          </m:r>
                        </m:e>
                        <m:sub>
                          <m:r>
                            <a:rPr lang="ar-AE" sz="1600"/>
                            <m:t>13</m:t>
                          </m:r>
                        </m:sub>
                      </m:sSub>
                    </m:oMath>
                  </m:oMathPara>
                </a14:m>
                <a:endParaRPr lang="en-IN" sz="1600" dirty="0"/>
              </a:p>
              <a:p>
                <a:endParaRPr lang="en-IN" sz="1600" dirty="0"/>
              </a:p>
              <a:p>
                <a:r>
                  <a:rPr lang="en-IN" sz="1600" dirty="0"/>
                  <a:t>Here </a:t>
                </a:r>
                <a:r>
                  <a:rPr lang="en-US" i="1" dirty="0"/>
                  <a:t>d</a:t>
                </a:r>
                <a:r>
                  <a:rPr lang="en-US" dirty="0"/>
                  <a:t>12,</a:t>
                </a:r>
                <a:r>
                  <a:rPr lang="en-US" i="1" dirty="0"/>
                  <a:t>d</a:t>
                </a:r>
                <a:r>
                  <a:rPr lang="en-US" dirty="0"/>
                  <a:t>23,</a:t>
                </a:r>
                <a:r>
                  <a:rPr lang="en-US" i="1" dirty="0"/>
                  <a:t>d</a:t>
                </a:r>
                <a:r>
                  <a:rPr lang="en-US" dirty="0"/>
                  <a:t>13 are the differences in distances from the transmitter to the respective receiver pairs.</a:t>
                </a:r>
                <a:endParaRPr lang="ar-AE" sz="1600" dirty="0"/>
              </a:p>
              <a:p>
                <a:br>
                  <a:rPr lang="ar-AE" dirty="0"/>
                </a:br>
                <a:endParaRPr lang="en-IN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5E5244B-8371-FC29-F990-DB430778C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8936" y="2545271"/>
                <a:ext cx="6165640" cy="3719288"/>
              </a:xfrm>
              <a:prstGeom prst="rect">
                <a:avLst/>
              </a:prstGeom>
              <a:blipFill>
                <a:blip r:embed="rId4"/>
                <a:stretch>
                  <a:fillRect l="-79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F13F24A-5D9D-260B-8596-5820BE1F8969}"/>
                  </a:ext>
                </a:extLst>
              </p:cNvPr>
              <p:cNvSpPr txBox="1"/>
              <p:nvPr/>
            </p:nvSpPr>
            <p:spPr>
              <a:xfrm>
                <a:off x="5908936" y="2332456"/>
                <a:ext cx="1848776" cy="5821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N" dirty="0"/>
                  <a:t>Tx (</a:t>
                </a:r>
                <a:r>
                  <a:rPr lang="en-IN" dirty="0" err="1"/>
                  <a:t>x,y</a:t>
                </a:r>
                <a:r>
                  <a:rPr lang="en-IN" dirty="0"/>
                  <a:t>):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IN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IN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IN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IN" i="1">
                            <a:latin typeface="Cambria Math" panose="02040503050406030204" pitchFamily="18" charset="0"/>
                          </a:rPr>
                          <m:t>.</m:t>
                        </m:r>
                        <m:f>
                          <m:fPr>
                            <m:ctrlPr>
                              <a:rPr lang="en-IN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ad>
                              <m:radPr>
                                <m:degHide m:val="on"/>
                                <m:ctrlPr>
                                  <a:rPr lang="en-IN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IN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rad>
                          </m:num>
                          <m:den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</m:e>
                    </m:d>
                  </m:oMath>
                </a14:m>
                <a:endParaRPr lang="en-IN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F13F24A-5D9D-260B-8596-5820BE1F89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8936" y="2332456"/>
                <a:ext cx="1848776" cy="582147"/>
              </a:xfrm>
              <a:prstGeom prst="rect">
                <a:avLst/>
              </a:prstGeom>
              <a:blipFill>
                <a:blip r:embed="rId5"/>
                <a:stretch>
                  <a:fillRect l="-263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0549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2759A33-EE03-2254-BF3F-2EC811FCA5F2}"/>
                  </a:ext>
                </a:extLst>
              </p:cNvPr>
              <p:cNvSpPr txBox="1"/>
              <p:nvPr/>
            </p:nvSpPr>
            <p:spPr>
              <a:xfrm>
                <a:off x="232347" y="389745"/>
                <a:ext cx="5527924" cy="9653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N" dirty="0"/>
                  <a:t>These Distances can be found using Receiver Information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mtClean="0"/>
                          </m:ctrlPr>
                        </m:sSubPr>
                        <m:e>
                          <m:r>
                            <a:rPr lang="ar-AE" i="1"/>
                            <m:t>𝑑</m:t>
                          </m:r>
                        </m:e>
                        <m:sub>
                          <m:r>
                            <a:rPr lang="ar-AE" i="1"/>
                            <m:t>𝑖𝑗</m:t>
                          </m:r>
                        </m:sub>
                      </m:sSub>
                      <m:r>
                        <a:rPr lang="ar-AE"/>
                        <m:t>=</m:t>
                      </m:r>
                      <m:r>
                        <a:rPr lang="ar-AE" i="1"/>
                        <m:t>𝑐</m:t>
                      </m:r>
                      <m:r>
                        <a:rPr lang="ar-AE"/>
                        <m:t>×</m:t>
                      </m:r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sSub>
                            <m:sSubPr>
                              <m:ctrlPr>
                                <a:rPr lang="ar-AE" i="1"/>
                              </m:ctrlPr>
                            </m:sSubPr>
                            <m:e>
                              <m:r>
                                <a:rPr lang="ar-AE" i="1"/>
                                <m:t>𝑇</m:t>
                              </m:r>
                            </m:e>
                            <m:sub>
                              <m:r>
                                <a:rPr lang="ar-AE" i="1"/>
                                <m:t>𝑖</m:t>
                              </m:r>
                            </m:sub>
                          </m:sSub>
                          <m:r>
                            <a:rPr lang="ar-AE"/>
                            <m:t>−</m:t>
                          </m:r>
                          <m:sSub>
                            <m:sSubPr>
                              <m:ctrlPr>
                                <a:rPr lang="ar-AE" i="1"/>
                              </m:ctrlPr>
                            </m:sSubPr>
                            <m:e>
                              <m:r>
                                <a:rPr lang="ar-AE" i="1"/>
                                <m:t>𝑇</m:t>
                              </m:r>
                            </m:e>
                            <m:sub>
                              <m:r>
                                <a:rPr lang="ar-AE" i="1"/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IN" dirty="0"/>
              </a:p>
              <a:p>
                <a:endParaRPr lang="en-IN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2759A33-EE03-2254-BF3F-2EC811FCA5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347" y="389745"/>
                <a:ext cx="5527924" cy="965392"/>
              </a:xfrm>
              <a:prstGeom prst="rect">
                <a:avLst/>
              </a:prstGeom>
              <a:blipFill>
                <a:blip r:embed="rId2"/>
                <a:stretch>
                  <a:fillRect l="-882" t="-3797" r="-33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20762A7F-5343-058C-EEEA-611F4817A0F4}"/>
              </a:ext>
            </a:extLst>
          </p:cNvPr>
          <p:cNvSpPr txBox="1"/>
          <p:nvPr/>
        </p:nvSpPr>
        <p:spPr>
          <a:xfrm>
            <a:off x="374754" y="1491521"/>
            <a:ext cx="86032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In Simulation we have assumed we know the Receiver information and have calculated </a:t>
            </a:r>
            <a:r>
              <a:rPr lang="en-IN" dirty="0" err="1"/>
              <a:t>dij</a:t>
            </a:r>
            <a:endParaRPr lang="ar-AE" dirty="0"/>
          </a:p>
          <a:p>
            <a:endParaRPr lang="en-IN" dirty="0"/>
          </a:p>
        </p:txBody>
      </p:sp>
      <p:pic>
        <p:nvPicPr>
          <p:cNvPr id="5" name="Picture 4" descr="A diagram of a star&#10;&#10;AI-generated content may be incorrect.">
            <a:extLst>
              <a:ext uri="{FF2B5EF4-FFF2-40B4-BE49-F238E27FC236}">
                <a16:creationId xmlns:a16="http://schemas.microsoft.com/office/drawing/2014/main" id="{5F8F2400-ACCC-3AF5-CCDD-F6CCD1F0BC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75" r="24569"/>
          <a:stretch>
            <a:fillRect/>
          </a:stretch>
        </p:blipFill>
        <p:spPr>
          <a:xfrm>
            <a:off x="3020517" y="2009012"/>
            <a:ext cx="4956747" cy="4705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629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209</TotalTime>
  <Words>227</Words>
  <Application>Microsoft Office PowerPoint</Application>
  <PresentationFormat>Widescreen</PresentationFormat>
  <Paragraphs>30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Calibri</vt:lpstr>
      <vt:lpstr>Calibri Light</vt:lpstr>
      <vt:lpstr>Cambria Math</vt:lpstr>
      <vt:lpstr>Wingdings</vt:lpstr>
      <vt:lpstr>Retrospect</vt:lpstr>
      <vt:lpstr>Localization of Transmitter using TDOA analysis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SamPlayz Minecraft</dc:creator>
  <cp:lastModifiedBy>SamPlayz Minecraft</cp:lastModifiedBy>
  <cp:revision>5</cp:revision>
  <dcterms:created xsi:type="dcterms:W3CDTF">2025-09-22T15:40:33Z</dcterms:created>
  <dcterms:modified xsi:type="dcterms:W3CDTF">2025-09-23T05:31:51Z</dcterms:modified>
</cp:coreProperties>
</file>