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7" r:id="rId1"/>
  </p:sldMasterIdLst>
  <p:sldIdLst>
    <p:sldId id="256" r:id="rId2"/>
    <p:sldId id="258" r:id="rId3"/>
    <p:sldId id="259" r:id="rId4"/>
    <p:sldId id="260" r:id="rId5"/>
    <p:sldId id="261" r:id="rId6"/>
    <p:sldId id="262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6" autoAdjust="0"/>
    <p:restoredTop sz="94660"/>
  </p:normalViewPr>
  <p:slideViewPr>
    <p:cSldViewPr snapToGrid="0">
      <p:cViewPr>
        <p:scale>
          <a:sx n="75" d="100"/>
          <a:sy n="75" d="100"/>
        </p:scale>
        <p:origin x="792" y="-2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37027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691882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191807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67243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64084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937142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87307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8205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92740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3292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488449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122DABFC-221E-4F7C-8511-A9761CDF0E9D}" type="datetimeFigureOut">
              <a:rPr lang="en-IN" smtClean="0"/>
              <a:t>23-09-2025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30BFD3F7-160B-4C37-9F93-684E0F45CAF9}" type="slidenum">
              <a:rPr lang="en-IN" smtClean="0"/>
              <a:t>‹#›</a:t>
            </a:fld>
            <a:endParaRPr lang="en-IN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378526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D94FB2-575C-47C5-9BF5-AE0E3E52AD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61144" y="1647616"/>
            <a:ext cx="10058400" cy="1608346"/>
          </a:xfrm>
        </p:spPr>
        <p:txBody>
          <a:bodyPr>
            <a:normAutofit fontScale="90000"/>
          </a:bodyPr>
          <a:lstStyle/>
          <a:p>
            <a:r>
              <a:rPr lang="en-IN" sz="6000" dirty="0"/>
              <a:t>Localization of Transmitter using TDOA analysis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AC3550-3E4B-D498-C8A7-85E6E01DF1A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557732"/>
          </a:xfrm>
        </p:spPr>
        <p:txBody>
          <a:bodyPr/>
          <a:lstStyle/>
          <a:p>
            <a:pPr algn="ctr"/>
            <a:r>
              <a:rPr lang="en-IN" dirty="0">
                <a:solidFill>
                  <a:schemeClr val="tx1"/>
                </a:solidFill>
              </a:rPr>
              <a:t>Supervisor – Prof. Seshan </a:t>
            </a:r>
            <a:r>
              <a:rPr lang="en-IN" dirty="0" err="1">
                <a:solidFill>
                  <a:schemeClr val="tx1"/>
                </a:solidFill>
              </a:rPr>
              <a:t>Srirangarajan</a:t>
            </a:r>
            <a:endParaRPr lang="en-IN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3D0093-2F4C-62A8-23B3-62D70023ED64}"/>
              </a:ext>
            </a:extLst>
          </p:cNvPr>
          <p:cNvSpPr txBox="1"/>
          <p:nvPr/>
        </p:nvSpPr>
        <p:spPr>
          <a:xfrm>
            <a:off x="3442817" y="4470637"/>
            <a:ext cx="501608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By -</a:t>
            </a:r>
          </a:p>
          <a:p>
            <a:pPr algn="ctr"/>
            <a:r>
              <a:rPr lang="en-IN" dirty="0">
                <a:solidFill>
                  <a:schemeClr val="tx1">
                    <a:lumMod val="50000"/>
                    <a:lumOff val="50000"/>
                  </a:schemeClr>
                </a:solidFill>
              </a:rPr>
              <a:t>Divyansh Kumar and Gopal Saha</a:t>
            </a:r>
          </a:p>
        </p:txBody>
      </p:sp>
    </p:spTree>
    <p:extLst>
      <p:ext uri="{BB962C8B-B14F-4D97-AF65-F5344CB8AC3E}">
        <p14:creationId xmlns:p14="http://schemas.microsoft.com/office/powerpoint/2010/main" val="121331976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48E72BA-F1D5-F90C-A43F-61E4111BE38E}"/>
              </a:ext>
            </a:extLst>
          </p:cNvPr>
          <p:cNvSpPr txBox="1"/>
          <p:nvPr/>
        </p:nvSpPr>
        <p:spPr>
          <a:xfrm>
            <a:off x="530277" y="1583768"/>
            <a:ext cx="10187689" cy="33733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/>
              <a:t>Defence</a:t>
            </a:r>
            <a:r>
              <a:rPr lang="en-IN" dirty="0"/>
              <a:t> – Tracking Enemy Radars and Drones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/>
              <a:t>UAV Tracking </a:t>
            </a:r>
            <a:r>
              <a:rPr lang="en-IN" dirty="0"/>
              <a:t>- </a:t>
            </a:r>
            <a:r>
              <a:rPr lang="en-US" dirty="0"/>
              <a:t>Detects unauthorized or enemy UAVs by pinpointing their source location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/>
              <a:t>Mobile Terminal Positioning </a:t>
            </a:r>
            <a:r>
              <a:rPr lang="en-IN" dirty="0"/>
              <a:t>- </a:t>
            </a:r>
            <a:r>
              <a:rPr lang="en-US" dirty="0"/>
              <a:t>Provides accurate position for mobile users even in environments where traditional GPS is unreliable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endParaRPr lang="en-IN" dirty="0"/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q"/>
            </a:pPr>
            <a:r>
              <a:rPr lang="en-IN" b="1" u="sng" dirty="0"/>
              <a:t>Medical Tracking </a:t>
            </a:r>
            <a:r>
              <a:rPr lang="en-IN" dirty="0"/>
              <a:t>- Localizing transmitter-equipped medical devices to track patients and belongings  </a:t>
            </a:r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F0912581-3E77-50C9-D8A5-4A3A40B508A2}"/>
              </a:ext>
            </a:extLst>
          </p:cNvPr>
          <p:cNvSpPr txBox="1">
            <a:spLocks/>
          </p:cNvSpPr>
          <p:nvPr/>
        </p:nvSpPr>
        <p:spPr>
          <a:xfrm>
            <a:off x="530277" y="637488"/>
            <a:ext cx="6195935" cy="9462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Why Localize Transmitter ?</a:t>
            </a:r>
          </a:p>
        </p:txBody>
      </p:sp>
    </p:spTree>
    <p:extLst>
      <p:ext uri="{BB962C8B-B14F-4D97-AF65-F5344CB8AC3E}">
        <p14:creationId xmlns:p14="http://schemas.microsoft.com/office/powerpoint/2010/main" val="2112351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15068541-A06D-9B4D-F0EF-E11B32DEA6A2}"/>
              </a:ext>
            </a:extLst>
          </p:cNvPr>
          <p:cNvSpPr txBox="1">
            <a:spLocks/>
          </p:cNvSpPr>
          <p:nvPr/>
        </p:nvSpPr>
        <p:spPr>
          <a:xfrm>
            <a:off x="260456" y="142327"/>
            <a:ext cx="6195935" cy="9462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What is TDOA ?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FFB0C16-7386-D09F-269D-DEA1E551B435}"/>
              </a:ext>
            </a:extLst>
          </p:cNvPr>
          <p:cNvSpPr txBox="1"/>
          <p:nvPr/>
        </p:nvSpPr>
        <p:spPr>
          <a:xfrm>
            <a:off x="260456" y="688497"/>
            <a:ext cx="1083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TDOA stands for </a:t>
            </a:r>
            <a:r>
              <a:rPr lang="en-IN" b="1" dirty="0"/>
              <a:t>Time difference of Arrival. </a:t>
            </a:r>
            <a:r>
              <a:rPr lang="en-IN" dirty="0"/>
              <a:t>Its one of the methods to pinpoint transmitter location</a:t>
            </a:r>
            <a:r>
              <a:rPr lang="en-IN" b="1" dirty="0"/>
              <a:t>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4A85487-B232-C299-CE1B-DB264914798F}"/>
              </a:ext>
            </a:extLst>
          </p:cNvPr>
          <p:cNvSpPr txBox="1"/>
          <p:nvPr/>
        </p:nvSpPr>
        <p:spPr>
          <a:xfrm>
            <a:off x="251085" y="1136518"/>
            <a:ext cx="108303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u="sng" dirty="0"/>
              <a:t>Hyperbolic </a:t>
            </a:r>
            <a:r>
              <a:rPr lang="en-IN" b="1" u="sng" dirty="0" err="1"/>
              <a:t>Multilateration</a:t>
            </a:r>
            <a:r>
              <a:rPr lang="en-IN" b="1" u="sng" dirty="0"/>
              <a:t> </a:t>
            </a:r>
            <a:r>
              <a:rPr lang="en-IN" dirty="0"/>
              <a:t>: Each pair of Receiver defines a Hyperbola in 2D (hyperboloid in 3D)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93EC7-9C27-3F78-2298-C6B95097EEEA}"/>
                  </a:ext>
                </a:extLst>
              </p:cNvPr>
              <p:cNvSpPr txBox="1"/>
              <p:nvPr/>
            </p:nvSpPr>
            <p:spPr>
              <a:xfrm>
                <a:off x="260456" y="1536628"/>
                <a:ext cx="11931544" cy="103791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IN" i="1" u="sng" dirty="0"/>
                  <a:t>For example</a:t>
                </a:r>
                <a:br>
                  <a:rPr lang="en-IN" i="1" u="sng" dirty="0"/>
                </a:br>
                <a:r>
                  <a:rPr lang="en-IN" sz="1600" dirty="0"/>
                  <a:t>Lets Take 3 Receivers forming a triangle and 1 transmitter in 2D plane. Coordinates of R1,R2,R3 are (0,0), (a,0), (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.</m:t>
                    </m:r>
                    <m:f>
                      <m:fPr>
                        <m:ctrlPr>
                          <a:rPr lang="en-IN" sz="1600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1600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num>
                      <m:den>
                        <m:r>
                          <a:rPr lang="en-IN" sz="16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16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IN" sz="1600" dirty="0"/>
              </a:p>
              <a:p>
                <a:endParaRPr lang="en-IN" dirty="0"/>
              </a:p>
            </p:txBody>
          </p:sp>
        </mc:Choice>
        <mc:Fallback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56593EC7-9C27-3F78-2298-C6B95097EEE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0456" y="1536628"/>
                <a:ext cx="11931544" cy="1037913"/>
              </a:xfrm>
              <a:prstGeom prst="rect">
                <a:avLst/>
              </a:prstGeom>
              <a:blipFill>
                <a:blip r:embed="rId2"/>
                <a:stretch>
                  <a:fillRect l="-460" t="-294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2" name="Picture 11" descr="A graph with a triangle&#10;&#10;AI-generated content may be incorrect.">
            <a:extLst>
              <a:ext uri="{FF2B5EF4-FFF2-40B4-BE49-F238E27FC236}">
                <a16:creationId xmlns:a16="http://schemas.microsoft.com/office/drawing/2014/main" id="{B6DE8B73-C49C-6BE8-F153-F6E88200BBA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779" r="20451"/>
          <a:stretch>
            <a:fillRect/>
          </a:stretch>
        </p:blipFill>
        <p:spPr>
          <a:xfrm>
            <a:off x="530747" y="2653427"/>
            <a:ext cx="4964866" cy="4062246"/>
          </a:xfrm>
          <a:prstGeom prst="rect">
            <a:avLst/>
          </a:prstGeom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E5244B-8371-FC29-F990-DB430778CEE8}"/>
                  </a:ext>
                </a:extLst>
              </p:cNvPr>
              <p:cNvSpPr txBox="1"/>
              <p:nvPr/>
            </p:nvSpPr>
            <p:spPr>
              <a:xfrm>
                <a:off x="5765904" y="2523499"/>
                <a:ext cx="6165640" cy="3719288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endParaRPr lang="en-IN" b="0" dirty="0"/>
              </a:p>
              <a:p>
                <a:endParaRPr lang="en-IN" sz="1600" dirty="0"/>
              </a:p>
              <a:p>
                <a:r>
                  <a:rPr lang="en-IN" sz="1600" dirty="0"/>
                  <a:t>Hyperbolas (between receiver pairs):</a:t>
                </a:r>
                <a:endParaRPr lang="en-IN" sz="1600" dirty="0">
                  <a:effectLst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12</m:t>
                          </m:r>
                        </m:sub>
                      </m:sSub>
                    </m:oMath>
                  </m:oMathPara>
                </a14:m>
                <a:endParaRPr lang="ar-AE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23</m:t>
                          </m:r>
                        </m:sub>
                      </m:sSub>
                    </m:oMath>
                  </m:oMathPara>
                </a14:m>
                <a:endParaRPr lang="ar-AE" sz="1600" dirty="0"/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1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−</m:t>
                      </m:r>
                      <m:rad>
                        <m:radPr>
                          <m:degHide m:val="on"/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d>
                            <m:dPr>
                              <m:endChr m:val=""/>
                              <m:ctrlPr>
                                <a:rPr lang="ar-AE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ar-AE" sz="1600" i="1"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sSub>
                                <m:sSub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b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sSup>
                                <m:sSupPr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d>
                                    <m:dPr>
                                      <m:begChr m:val=""/>
                                      <m:endChr m:val=""/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</m:d>
                                </m:e>
                                <m:sup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a:rPr lang="ar-AE" sz="1600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d>
                                <m:dPr>
                                  <m:endChr m:val=""/>
                                  <m:ctrlP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ar-AE" sz="1600" i="1">
                                      <a:latin typeface="Cambria Math" panose="02040503050406030204" pitchFamily="18" charset="0"/>
                                    </a:rPr>
                                    <m:t>𝑦</m:t>
                                  </m:r>
                                  <m:r>
                                    <a:rPr lang="ar-AE" sz="1600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sSub>
                                    <m:sSub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  <m:t>𝑦</m:t>
                                      </m:r>
                                    </m:e>
                                    <m:sub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3</m:t>
                                      </m:r>
                                    </m:sub>
                                  </m:sSub>
                                  <m:sSup>
                                    <m:sSupPr>
                                      <m:ctrlPr>
                                        <a:rPr lang="ar-AE" sz="160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d>
                                        <m:dPr>
                                          <m:begChr m:val=""/>
                                          <m:endChr m:val=""/>
                                          <m:ctrlPr>
                                            <a:rPr lang="ar-AE" sz="160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ar-AE" sz="1600">
                                              <a:latin typeface="Cambria Math" panose="02040503050406030204" pitchFamily="18" charset="0"/>
                                            </a:rPr>
                                            <m:t>)</m:t>
                                          </m:r>
                                        </m:e>
                                      </m:d>
                                    </m:e>
                                    <m:sup>
                                      <m:r>
                                        <a:rPr lang="ar-AE" sz="1600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e>
                              </m:d>
                            </m:e>
                          </m:d>
                        </m:e>
                      </m:rad>
                      <m:r>
                        <a:rPr lang="ar-AE" sz="160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ar-AE" sz="16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sz="1600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ar-AE" sz="1600">
                              <a:latin typeface="Cambria Math" panose="02040503050406030204" pitchFamily="18" charset="0"/>
                            </a:rPr>
                            <m:t>13</m:t>
                          </m:r>
                        </m:sub>
                      </m:sSub>
                    </m:oMath>
                  </m:oMathPara>
                </a14:m>
                <a:endParaRPr lang="en-IN" sz="1600" dirty="0"/>
              </a:p>
              <a:p>
                <a:endParaRPr lang="en-IN" sz="1600" dirty="0"/>
              </a:p>
              <a:p>
                <a:r>
                  <a:rPr lang="en-IN" sz="1600" dirty="0"/>
                  <a:t>Here </a:t>
                </a:r>
                <a:r>
                  <a:rPr lang="en-US" i="1" dirty="0"/>
                  <a:t>d</a:t>
                </a:r>
                <a:r>
                  <a:rPr lang="en-US" dirty="0"/>
                  <a:t>12,</a:t>
                </a:r>
                <a:r>
                  <a:rPr lang="en-US" i="1" dirty="0"/>
                  <a:t>d</a:t>
                </a:r>
                <a:r>
                  <a:rPr lang="en-US" dirty="0"/>
                  <a:t>23,</a:t>
                </a:r>
                <a:r>
                  <a:rPr lang="en-US" i="1" dirty="0"/>
                  <a:t>d</a:t>
                </a:r>
                <a:r>
                  <a:rPr lang="en-US" dirty="0"/>
                  <a:t>13 are the differences in distances from the transmitter to the respective receiver pairs.</a:t>
                </a:r>
                <a:endParaRPr lang="ar-AE" sz="1600" dirty="0"/>
              </a:p>
              <a:p>
                <a:br>
                  <a:rPr lang="ar-AE" dirty="0"/>
                </a:br>
                <a:endParaRPr lang="en-IN" dirty="0"/>
              </a:p>
            </p:txBody>
          </p:sp>
        </mc:Choice>
        <mc:Fallback>
          <p:sp>
            <p:nvSpPr>
              <p:cNvPr id="13" name="TextBox 12">
                <a:extLst>
                  <a:ext uri="{FF2B5EF4-FFF2-40B4-BE49-F238E27FC236}">
                    <a16:creationId xmlns:a16="http://schemas.microsoft.com/office/drawing/2014/main" id="{35E5244B-8371-FC29-F990-DB430778CEE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904" y="2523499"/>
                <a:ext cx="6165640" cy="3719288"/>
              </a:xfrm>
              <a:prstGeom prst="rect">
                <a:avLst/>
              </a:prstGeom>
              <a:blipFill>
                <a:blip r:embed="rId4"/>
                <a:stretch>
                  <a:fillRect l="-89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13F24A-5D9D-260B-8596-5820BE1F8969}"/>
                  </a:ext>
                </a:extLst>
              </p:cNvPr>
              <p:cNvSpPr txBox="1"/>
              <p:nvPr/>
            </p:nvSpPr>
            <p:spPr>
              <a:xfrm>
                <a:off x="5765904" y="2341432"/>
                <a:ext cx="1824859" cy="527773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sz="1600" dirty="0"/>
                  <a:t>Tx (</a:t>
                </a:r>
                <a:r>
                  <a:rPr lang="en-IN" sz="1600" dirty="0" err="1"/>
                  <a:t>x,y</a:t>
                </a:r>
                <a:r>
                  <a:rPr lang="en-IN" sz="1600" dirty="0"/>
                  <a:t>):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IN" sz="16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1600" i="1">
                            <a:latin typeface="Cambria Math" panose="02040503050406030204" pitchFamily="18" charset="0"/>
                          </a:rPr>
                          <m:t>.</m:t>
                        </m:r>
                        <m:f>
                          <m:fPr>
                            <m:ctrlPr>
                              <a:rPr lang="en-IN" sz="16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1600" i="1"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1600" i="1"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e>
                            </m:rad>
                          </m:num>
                          <m:den>
                            <m:r>
                              <a:rPr lang="en-IN" sz="16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den>
                        </m:f>
                      </m:e>
                    </m:d>
                  </m:oMath>
                </a14:m>
                <a:endParaRPr lang="en-IN" dirty="0"/>
              </a:p>
            </p:txBody>
          </p:sp>
        </mc:Choice>
        <mc:Fallback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EF13F24A-5D9D-260B-8596-5820BE1F896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65904" y="2341432"/>
                <a:ext cx="1824859" cy="527773"/>
              </a:xfrm>
              <a:prstGeom prst="rect">
                <a:avLst/>
              </a:prstGeom>
              <a:blipFill>
                <a:blip r:embed="rId5"/>
                <a:stretch>
                  <a:fillRect l="-200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905490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" grpId="0"/>
      <p:bldP spid="13" grpId="0"/>
      <p:bldP spid="1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759A33-EE03-2254-BF3F-2EC811FCA5F2}"/>
                  </a:ext>
                </a:extLst>
              </p:cNvPr>
              <p:cNvSpPr txBox="1"/>
              <p:nvPr/>
            </p:nvSpPr>
            <p:spPr>
              <a:xfrm>
                <a:off x="232347" y="389745"/>
                <a:ext cx="5527924" cy="965392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These Distances can be found using Receiver Information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ar-A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𝑑</m:t>
                          </m:r>
                        </m:e>
                        <m:sub>
                          <m:r>
                            <a:rPr lang="ar-AE" i="1">
                              <a:latin typeface="Cambria Math" panose="02040503050406030204" pitchFamily="18" charset="0"/>
                            </a:rPr>
                            <m:t>𝑖𝑗</m:t>
                          </m:r>
                        </m:sub>
                      </m:sSub>
                      <m:r>
                        <a:rPr lang="ar-AE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ar-AE" i="1">
                          <a:latin typeface="Cambria Math" panose="02040503050406030204" pitchFamily="18" charset="0"/>
                        </a:rPr>
                        <m:t>𝑐</m:t>
                      </m:r>
                      <m:r>
                        <a:rPr lang="ar-AE">
                          <a:latin typeface="Cambria Math" panose="02040503050406030204" pitchFamily="18" charset="0"/>
                        </a:rPr>
                        <m:t>×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−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𝑗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  <a:p>
                <a:endParaRPr lang="en-IN" dirty="0"/>
              </a:p>
            </p:txBody>
          </p:sp>
        </mc:Choice>
        <mc:Fallback xmlns="">
          <p:sp>
            <p:nvSpPr>
              <p:cNvPr id="2" name="TextBox 1">
                <a:extLst>
                  <a:ext uri="{FF2B5EF4-FFF2-40B4-BE49-F238E27FC236}">
                    <a16:creationId xmlns:a16="http://schemas.microsoft.com/office/drawing/2014/main" id="{C2759A33-EE03-2254-BF3F-2EC811FCA5F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32347" y="389745"/>
                <a:ext cx="5527924" cy="965392"/>
              </a:xfrm>
              <a:prstGeom prst="rect">
                <a:avLst/>
              </a:prstGeom>
              <a:blipFill>
                <a:blip r:embed="rId2"/>
                <a:stretch>
                  <a:fillRect l="-882" t="-3797" r="-33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Box 2">
            <a:extLst>
              <a:ext uri="{FF2B5EF4-FFF2-40B4-BE49-F238E27FC236}">
                <a16:creationId xmlns:a16="http://schemas.microsoft.com/office/drawing/2014/main" id="{20762A7F-5343-058C-EEEA-611F4817A0F4}"/>
              </a:ext>
            </a:extLst>
          </p:cNvPr>
          <p:cNvSpPr txBox="1"/>
          <p:nvPr/>
        </p:nvSpPr>
        <p:spPr>
          <a:xfrm>
            <a:off x="374754" y="1491521"/>
            <a:ext cx="860325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In Simulation we have assumed we know the Receiver information and have calculated </a:t>
            </a:r>
            <a:r>
              <a:rPr lang="en-IN" dirty="0" err="1"/>
              <a:t>dij</a:t>
            </a:r>
            <a:endParaRPr lang="ar-AE" dirty="0"/>
          </a:p>
          <a:p>
            <a:endParaRPr lang="en-IN" dirty="0"/>
          </a:p>
        </p:txBody>
      </p:sp>
      <p:pic>
        <p:nvPicPr>
          <p:cNvPr id="5" name="Picture 4" descr="A diagram of a star&#10;&#10;AI-generated content may be incorrect.">
            <a:extLst>
              <a:ext uri="{FF2B5EF4-FFF2-40B4-BE49-F238E27FC236}">
                <a16:creationId xmlns:a16="http://schemas.microsoft.com/office/drawing/2014/main" id="{5F8F2400-ACCC-3AF5-CCDD-F6CCD1F0BCA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75" r="24569"/>
          <a:stretch>
            <a:fillRect/>
          </a:stretch>
        </p:blipFill>
        <p:spPr>
          <a:xfrm>
            <a:off x="374754" y="1885640"/>
            <a:ext cx="4956747" cy="4705289"/>
          </a:xfrm>
          <a:prstGeom prst="rect">
            <a:avLst/>
          </a:prstGeom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3CDFD669-9677-04BB-501E-5DD1192069A5}"/>
              </a:ext>
            </a:extLst>
          </p:cNvPr>
          <p:cNvCxnSpPr/>
          <p:nvPr/>
        </p:nvCxnSpPr>
        <p:spPr>
          <a:xfrm>
            <a:off x="3744686" y="1058091"/>
            <a:ext cx="2351314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83F3DE8D-3FB0-461E-EEA1-9859840D9F82}"/>
              </a:ext>
            </a:extLst>
          </p:cNvPr>
          <p:cNvSpPr txBox="1"/>
          <p:nvPr/>
        </p:nvSpPr>
        <p:spPr>
          <a:xfrm>
            <a:off x="6156959" y="870858"/>
            <a:ext cx="596428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>
                <a:highlight>
                  <a:srgbClr val="FFFF00"/>
                </a:highlight>
              </a:rPr>
              <a:t>Time Delay calculated via cross correlation of time signals received </a:t>
            </a:r>
          </a:p>
          <a:p>
            <a:r>
              <a:rPr lang="en-IN" sz="1400" dirty="0">
                <a:highlight>
                  <a:srgbClr val="FFFF00"/>
                </a:highlight>
              </a:rPr>
              <a:t>by both receivers (signal processing part!)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2D6C788-3391-2B5F-BA0F-12229F01AA2B}"/>
              </a:ext>
            </a:extLst>
          </p:cNvPr>
          <p:cNvSpPr txBox="1"/>
          <p:nvPr/>
        </p:nvSpPr>
        <p:spPr>
          <a:xfrm>
            <a:off x="5331501" y="2089570"/>
            <a:ext cx="52986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Accuracy Depends on how accurately we calculate </a:t>
            </a:r>
            <a:r>
              <a:rPr lang="en-IN" dirty="0" err="1"/>
              <a:t>dij</a:t>
            </a:r>
            <a:r>
              <a:rPr lang="en-IN" dirty="0"/>
              <a:t> !</a:t>
            </a:r>
          </a:p>
          <a:p>
            <a:r>
              <a:rPr lang="en-IN" dirty="0"/>
              <a:t>Figure Below shows 10-15% Error in calculation of </a:t>
            </a:r>
            <a:r>
              <a:rPr lang="en-IN" dirty="0" err="1"/>
              <a:t>dij</a:t>
            </a:r>
            <a:endParaRPr lang="en-IN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EB10A62-3F2F-DC1B-3803-9EF0DDC8C86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88821" y="2829533"/>
            <a:ext cx="4715465" cy="4028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136293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12" grpId="0"/>
      <p:bldP spid="13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0538E887-D31E-DB45-74CF-DBCD3AB1770B}"/>
              </a:ext>
            </a:extLst>
          </p:cNvPr>
          <p:cNvSpPr txBox="1">
            <a:spLocks/>
          </p:cNvSpPr>
          <p:nvPr/>
        </p:nvSpPr>
        <p:spPr>
          <a:xfrm>
            <a:off x="253199" y="396327"/>
            <a:ext cx="6195935" cy="946280"/>
          </a:xfrm>
          <a:prstGeom prst="rect">
            <a:avLst/>
          </a:prstGeo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4800" kern="1200" spc="-5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000" dirty="0"/>
              <a:t>Objectives! 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25169DF-100A-44DF-57C3-6F3E5CB5C7B7}"/>
              </a:ext>
            </a:extLst>
          </p:cNvPr>
          <p:cNvSpPr/>
          <p:nvPr/>
        </p:nvSpPr>
        <p:spPr>
          <a:xfrm>
            <a:off x="658766" y="1407886"/>
            <a:ext cx="2692400" cy="132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Learn Basics of RTL-SDRs, </a:t>
            </a:r>
            <a:r>
              <a:rPr lang="en-IN" dirty="0" err="1"/>
              <a:t>Hackrf</a:t>
            </a:r>
            <a:r>
              <a:rPr lang="en-IN" dirty="0"/>
              <a:t> one, GNU Radio </a:t>
            </a:r>
            <a:r>
              <a:rPr lang="en-IN" dirty="0" err="1"/>
              <a:t>Campanion</a:t>
            </a:r>
            <a:endParaRPr lang="en-IN" dirty="0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5E379C5-E98E-76F2-14BD-53CD62C54D73}"/>
              </a:ext>
            </a:extLst>
          </p:cNvPr>
          <p:cNvSpPr/>
          <p:nvPr/>
        </p:nvSpPr>
        <p:spPr>
          <a:xfrm>
            <a:off x="4341765" y="1407886"/>
            <a:ext cx="2692400" cy="132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Transmitter and Receiver Placement and circuit simulation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9E5A7B2-73DD-D150-B4F1-72DCCA480384}"/>
              </a:ext>
            </a:extLst>
          </p:cNvPr>
          <p:cNvSpPr/>
          <p:nvPr/>
        </p:nvSpPr>
        <p:spPr>
          <a:xfrm>
            <a:off x="8024765" y="1407886"/>
            <a:ext cx="2692400" cy="132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Synchronization among receivers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4805BF3-6F75-A089-7C42-721C685EFBDA}"/>
              </a:ext>
            </a:extLst>
          </p:cNvPr>
          <p:cNvSpPr/>
          <p:nvPr/>
        </p:nvSpPr>
        <p:spPr>
          <a:xfrm>
            <a:off x="6504035" y="3708401"/>
            <a:ext cx="2692400" cy="132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Data Handling and Cross Correlation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DF8F190-5652-B20B-0201-DCF354386CC8}"/>
              </a:ext>
            </a:extLst>
          </p:cNvPr>
          <p:cNvSpPr/>
          <p:nvPr/>
        </p:nvSpPr>
        <p:spPr>
          <a:xfrm>
            <a:off x="2473050" y="3708401"/>
            <a:ext cx="2692400" cy="132080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IN" dirty="0"/>
              <a:t>TDOA Calculation and Position Estimation via Visualization</a:t>
            </a:r>
          </a:p>
        </p:txBody>
      </p:sp>
      <p:sp>
        <p:nvSpPr>
          <p:cNvPr id="10" name="Arrow: Right 9">
            <a:extLst>
              <a:ext uri="{FF2B5EF4-FFF2-40B4-BE49-F238E27FC236}">
                <a16:creationId xmlns:a16="http://schemas.microsoft.com/office/drawing/2014/main" id="{B493BD6E-6F7D-DE04-0861-947B04F80105}"/>
              </a:ext>
            </a:extLst>
          </p:cNvPr>
          <p:cNvSpPr/>
          <p:nvPr/>
        </p:nvSpPr>
        <p:spPr>
          <a:xfrm>
            <a:off x="3351166" y="1857829"/>
            <a:ext cx="990599" cy="312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8E0185CB-E31B-EDAA-E947-737C1C1CC0D0}"/>
              </a:ext>
            </a:extLst>
          </p:cNvPr>
          <p:cNvSpPr/>
          <p:nvPr/>
        </p:nvSpPr>
        <p:spPr>
          <a:xfrm>
            <a:off x="7034165" y="1912257"/>
            <a:ext cx="990599" cy="312057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2" name="Arrow: Right 11">
            <a:extLst>
              <a:ext uri="{FF2B5EF4-FFF2-40B4-BE49-F238E27FC236}">
                <a16:creationId xmlns:a16="http://schemas.microsoft.com/office/drawing/2014/main" id="{E25285CD-99E1-2293-2031-3DBF4CF2A80C}"/>
              </a:ext>
            </a:extLst>
          </p:cNvPr>
          <p:cNvSpPr/>
          <p:nvPr/>
        </p:nvSpPr>
        <p:spPr>
          <a:xfrm rot="5400000">
            <a:off x="8197291" y="3037464"/>
            <a:ext cx="970640" cy="371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1225FA5C-60EE-9A80-1F44-23287C750F9A}"/>
              </a:ext>
            </a:extLst>
          </p:cNvPr>
          <p:cNvSpPr/>
          <p:nvPr/>
        </p:nvSpPr>
        <p:spPr>
          <a:xfrm rot="10800000">
            <a:off x="5165450" y="4212772"/>
            <a:ext cx="1338585" cy="371235"/>
          </a:xfrm>
          <a:prstGeom prst="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840364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10" grpId="0" animBg="1"/>
      <p:bldP spid="11" grpId="0" animBg="1"/>
      <p:bldP spid="12" grpId="0" animBg="1"/>
      <p:bldP spid="1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10423676"/>
      </p:ext>
    </p:extLst>
  </p:cSld>
  <p:clrMapOvr>
    <a:masterClrMapping/>
  </p:clrMapOvr>
</p:sld>
</file>

<file path=ppt/theme/theme1.xml><?xml version="1.0" encoding="utf-8"?>
<a:theme xmlns:a="http://schemas.openxmlformats.org/drawingml/2006/main" name="Retrospect">
  <a:themeElements>
    <a:clrScheme name="Retrospect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273</TotalTime>
  <Words>299</Words>
  <Application>Microsoft Office PowerPoint</Application>
  <PresentationFormat>Widescreen</PresentationFormat>
  <Paragraphs>39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Calibri</vt:lpstr>
      <vt:lpstr>Calibri Light</vt:lpstr>
      <vt:lpstr>Cambria Math</vt:lpstr>
      <vt:lpstr>Wingdings</vt:lpstr>
      <vt:lpstr>Retrospect</vt:lpstr>
      <vt:lpstr>Localization of Transmitter using TDOA analysis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SamPlayz Minecraft</dc:creator>
  <cp:lastModifiedBy>SamPlayz Minecraft</cp:lastModifiedBy>
  <cp:revision>6</cp:revision>
  <dcterms:created xsi:type="dcterms:W3CDTF">2025-09-22T15:40:33Z</dcterms:created>
  <dcterms:modified xsi:type="dcterms:W3CDTF">2025-09-23T09:22:13Z</dcterms:modified>
</cp:coreProperties>
</file>